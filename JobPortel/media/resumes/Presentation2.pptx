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8" d="100"/>
          <a:sy n="78" d="100"/>
        </p:scale>
        <p:origin x="4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3260B-A6BA-4588-75AC-5FC1E22782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C6B47A-994B-BF87-44C6-D173301A22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768572-3DB1-7C87-BE52-411F0D8BFC51}"/>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3B1EE295-A62C-2023-7FF6-8425D7D2BC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DA16BF-3611-91F4-551D-2E6A6E4671FA}"/>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169296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3E22E-B6B1-373B-1669-456CBB13CA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2C1E8-515C-576B-E1CB-63BB6145DC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8DF18F-DF8A-86E9-31FF-84AD749A0BDA}"/>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2A44673C-CE48-99DA-2E5C-346D988DC5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339C91-DCF7-858E-C372-90E52425CB04}"/>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2652010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13661-5025-59A7-A481-17E6E1CFB3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F8CA2A-882F-D17F-009A-F2B13253D4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3E0E1-BD4E-1D62-004F-44710B76FC88}"/>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2536E10F-C587-14EF-E046-1EBA06D2A6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622D1D-BB35-45DB-7C0A-C54876B75275}"/>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116355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9DEA-398E-3433-AC0E-620F6702B6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DB2AF7-DAD9-1A24-480D-BBC49D2E15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3BE372-7219-8FE5-85A9-81DAE2E2DF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369179-A598-43D1-0AA4-61478A926572}"/>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6" name="Footer Placeholder 5">
            <a:extLst>
              <a:ext uri="{FF2B5EF4-FFF2-40B4-BE49-F238E27FC236}">
                <a16:creationId xmlns:a16="http://schemas.microsoft.com/office/drawing/2014/main" id="{F7B459D8-D806-550D-75C6-70DC0D9D6C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DB73A1-A839-4E18-E8C6-4E2C474ECC40}"/>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1051983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142-078C-31A8-EB8F-073010C74D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578D12-4BA5-679B-687C-0B54015331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6B4BD0-DD0C-C911-D114-25BDE74031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40FBF8-CBFA-C882-56BF-72349CF2BA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5578F4-819D-A9AE-8782-4BE92B8E41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8E6332-77E6-895E-A6C1-17F88BAD025A}"/>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8" name="Footer Placeholder 7">
            <a:extLst>
              <a:ext uri="{FF2B5EF4-FFF2-40B4-BE49-F238E27FC236}">
                <a16:creationId xmlns:a16="http://schemas.microsoft.com/office/drawing/2014/main" id="{B8E9CCAF-E8E5-EDE6-14BD-370415E6DF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675751-BED2-5BCD-593A-66AF2CC9D0AC}"/>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2354528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37EA-5E60-71C3-0E97-426F1E0AFA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89846A-EE34-3AB2-058B-C04776D19F8D}"/>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4" name="Footer Placeholder 3">
            <a:extLst>
              <a:ext uri="{FF2B5EF4-FFF2-40B4-BE49-F238E27FC236}">
                <a16:creationId xmlns:a16="http://schemas.microsoft.com/office/drawing/2014/main" id="{25BDC312-7608-9336-525D-5115C25C7F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A39B81-BD01-218D-9390-CC305E4933CE}"/>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2598239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A23E29-BD95-8050-8C83-4E621BEE678D}"/>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3" name="Footer Placeholder 2">
            <a:extLst>
              <a:ext uri="{FF2B5EF4-FFF2-40B4-BE49-F238E27FC236}">
                <a16:creationId xmlns:a16="http://schemas.microsoft.com/office/drawing/2014/main" id="{0FDAB14B-6342-E25B-725D-144839E812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CCD45B-401E-9B00-CEE7-0A544670136D}"/>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3060335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7CBD-3535-9603-A233-8D5F000BF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B27E11-4EB6-582B-FF82-983E63DBB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ECE903-940A-1B30-A6F6-FD231A9AEC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CC5BA6-0E3E-34D9-DE2D-47FA6B06129F}"/>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6" name="Footer Placeholder 5">
            <a:extLst>
              <a:ext uri="{FF2B5EF4-FFF2-40B4-BE49-F238E27FC236}">
                <a16:creationId xmlns:a16="http://schemas.microsoft.com/office/drawing/2014/main" id="{B016A3F7-E33C-4FB0-E2DF-A92A0F201D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7F195B-160D-4606-203F-9AADA4DA659D}"/>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3093223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20F2-68C9-F839-20CB-2C3619248E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45600B-A440-1743-24CD-7B421A2AC0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5A4E38-933B-50BC-2CE6-6B38AB057E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0C5089-9F1A-7761-C07A-4E7E8F6277BF}"/>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6" name="Footer Placeholder 5">
            <a:extLst>
              <a:ext uri="{FF2B5EF4-FFF2-40B4-BE49-F238E27FC236}">
                <a16:creationId xmlns:a16="http://schemas.microsoft.com/office/drawing/2014/main" id="{8D81F0E4-E9B0-203B-2E6D-E95299731F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7E0516-8F0F-2F0E-9A30-D24D1710D162}"/>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1904523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E1A9-682B-B53C-C419-5D8F00FD62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851E31-E9FB-3AE3-1E2B-503AB60B3D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674DA4-8CC2-FE1F-A4CC-924C9B581828}"/>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A51F43B8-DC55-ADC2-2392-FACD87307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1F823F-E980-3F4F-DE7A-870C83510C2B}"/>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1357066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6ABD99-AF44-44AF-2A1C-E72381150B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AC2A0F-2AC8-9135-BB79-20376FE830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26DC3E-BBCB-1BFB-2737-23D9D7B20C1E}"/>
              </a:ext>
            </a:extLst>
          </p:cNvPr>
          <p:cNvSpPr>
            <a:spLocks noGrp="1"/>
          </p:cNvSpPr>
          <p:nvPr>
            <p:ph type="dt" sz="half" idx="10"/>
          </p:nvPr>
        </p:nvSpPr>
        <p:spPr/>
        <p:txBody>
          <a:body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736A1787-EC10-52F9-07CF-A8AC25D1A9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E8538-166A-4DC9-D4ED-6A5D2D39AB56}"/>
              </a:ext>
            </a:extLst>
          </p:cNvPr>
          <p:cNvSpPr>
            <a:spLocks noGrp="1"/>
          </p:cNvSpPr>
          <p:nvPr>
            <p:ph type="sldNum" sz="quarter" idx="12"/>
          </p:nvPr>
        </p:nvSpPr>
        <p:spPr/>
        <p:txBody>
          <a:bodyPr/>
          <a:lstStyle/>
          <a:p>
            <a:fld id="{7E88C051-71CD-4204-A878-EC0B2B12610A}" type="slidenum">
              <a:rPr lang="en-IN" smtClean="0"/>
              <a:t>‹#›</a:t>
            </a:fld>
            <a:endParaRPr lang="en-IN"/>
          </a:p>
        </p:txBody>
      </p:sp>
    </p:spTree>
    <p:extLst>
      <p:ext uri="{BB962C8B-B14F-4D97-AF65-F5344CB8AC3E}">
        <p14:creationId xmlns:p14="http://schemas.microsoft.com/office/powerpoint/2010/main" val="300549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DDBD8B-5FD3-73EC-133E-460F9CE221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7A2CF-6CD8-53AE-EA0D-6F634E8207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E68B35-1794-1B51-D303-7CABD73F78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BFF7DD-BDBD-4FEE-8DD6-7A941C427232}" type="datetimeFigureOut">
              <a:rPr lang="en-IN" smtClean="0"/>
              <a:t>21-01-2026</a:t>
            </a:fld>
            <a:endParaRPr lang="en-IN"/>
          </a:p>
        </p:txBody>
      </p:sp>
      <p:sp>
        <p:nvSpPr>
          <p:cNvPr id="5" name="Footer Placeholder 4">
            <a:extLst>
              <a:ext uri="{FF2B5EF4-FFF2-40B4-BE49-F238E27FC236}">
                <a16:creationId xmlns:a16="http://schemas.microsoft.com/office/drawing/2014/main" id="{6658AC38-D29F-FEB0-E0C9-ED116C09B1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843C621-1F95-FCA7-4C19-D2643BFD8E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88C051-71CD-4204-A878-EC0B2B12610A}" type="slidenum">
              <a:rPr lang="en-IN" smtClean="0"/>
              <a:t>‹#›</a:t>
            </a:fld>
            <a:endParaRPr lang="en-IN"/>
          </a:p>
        </p:txBody>
      </p:sp>
    </p:spTree>
    <p:extLst>
      <p:ext uri="{BB962C8B-B14F-4D97-AF65-F5344CB8AC3E}">
        <p14:creationId xmlns:p14="http://schemas.microsoft.com/office/powerpoint/2010/main" val="1529184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69F818E-AFD9-BB09-B4F0-3823B242D293}"/>
              </a:ext>
            </a:extLst>
          </p:cNvPr>
          <p:cNvSpPr>
            <a:spLocks noGrp="1"/>
          </p:cNvSpPr>
          <p:nvPr>
            <p:ph type="subTitle" idx="1"/>
          </p:nvPr>
        </p:nvSpPr>
        <p:spPr>
          <a:xfrm>
            <a:off x="1297459" y="4399005"/>
            <a:ext cx="3620530" cy="1556952"/>
          </a:xfrm>
        </p:spPr>
        <p:txBody>
          <a:bodyPr>
            <a:normAutofit/>
          </a:bodyPr>
          <a:lstStyle/>
          <a:p>
            <a:r>
              <a:rPr lang="en-US" sz="2000" b="1" dirty="0">
                <a:latin typeface="Times New Roman" panose="02020603050405020304" pitchFamily="18" charset="0"/>
                <a:cs typeface="Times New Roman" panose="02020603050405020304" pitchFamily="18" charset="0"/>
              </a:rPr>
              <a:t>INTERNAL GUIDE:</a:t>
            </a:r>
          </a:p>
          <a:p>
            <a:r>
              <a:rPr lang="en-US" sz="1900" dirty="0">
                <a:latin typeface="Times New Roman" panose="02020603050405020304" pitchFamily="18" charset="0"/>
                <a:cs typeface="Times New Roman" panose="02020603050405020304" pitchFamily="18" charset="0"/>
              </a:rPr>
              <a:t>Dr. S. Arun Balaji BE., </a:t>
            </a:r>
            <a:r>
              <a:rPr lang="en-US" sz="1900" dirty="0" err="1">
                <a:latin typeface="Times New Roman" panose="02020603050405020304" pitchFamily="18" charset="0"/>
                <a:cs typeface="Times New Roman" panose="02020603050405020304" pitchFamily="18" charset="0"/>
              </a:rPr>
              <a:t>M.Tech.,MBA</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Ph.D</a:t>
            </a:r>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Assistant Professor / CSE</a:t>
            </a:r>
            <a:endParaRPr lang="en-IN" sz="1900" dirty="0"/>
          </a:p>
          <a:p>
            <a:endParaRPr lang="en-IN" dirty="0"/>
          </a:p>
        </p:txBody>
      </p:sp>
      <p:sp>
        <p:nvSpPr>
          <p:cNvPr id="11" name="TextBox 10">
            <a:extLst>
              <a:ext uri="{FF2B5EF4-FFF2-40B4-BE49-F238E27FC236}">
                <a16:creationId xmlns:a16="http://schemas.microsoft.com/office/drawing/2014/main" id="{24A9D9C1-17E0-EECA-1B59-1B61CF44017B}"/>
              </a:ext>
            </a:extLst>
          </p:cNvPr>
          <p:cNvSpPr txBox="1"/>
          <p:nvPr/>
        </p:nvSpPr>
        <p:spPr>
          <a:xfrm>
            <a:off x="2916194" y="2044005"/>
            <a:ext cx="5931243" cy="1384995"/>
          </a:xfrm>
          <a:prstGeom prst="rect">
            <a:avLst/>
          </a:prstGeom>
          <a:noFill/>
        </p:spPr>
        <p:txBody>
          <a:bodyPr wrap="square" rtlCol="0">
            <a:spAutoFit/>
          </a:bodyPr>
          <a:lstStyle/>
          <a:p>
            <a:pPr algn="ctr"/>
            <a:r>
              <a:rPr lang="en-US" sz="2800" b="1" dirty="0">
                <a:latin typeface="Californian FB" panose="0207040306080B030204" pitchFamily="18" charset="0"/>
              </a:rPr>
              <a:t>Increasing the Approach Towards HealthCare Informatics and Data Analytics in Medical Science</a:t>
            </a:r>
            <a:endParaRPr lang="en-IN" sz="2800" b="1" dirty="0">
              <a:latin typeface="Californian FB" panose="0207040306080B030204" pitchFamily="18" charset="0"/>
            </a:endParaRPr>
          </a:p>
        </p:txBody>
      </p:sp>
      <p:sp>
        <p:nvSpPr>
          <p:cNvPr id="12" name="TextBox 11">
            <a:extLst>
              <a:ext uri="{FF2B5EF4-FFF2-40B4-BE49-F238E27FC236}">
                <a16:creationId xmlns:a16="http://schemas.microsoft.com/office/drawing/2014/main" id="{38C3CC7D-CDDF-B224-6D5E-FEA3EBA5595F}"/>
              </a:ext>
            </a:extLst>
          </p:cNvPr>
          <p:cNvSpPr txBox="1"/>
          <p:nvPr/>
        </p:nvSpPr>
        <p:spPr>
          <a:xfrm>
            <a:off x="7274013" y="4399005"/>
            <a:ext cx="4405291" cy="206210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TEAM MEMBERS:</a:t>
            </a:r>
          </a:p>
          <a:p>
            <a:endParaRPr lang="en-US"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Duaraw</a:t>
            </a:r>
            <a:r>
              <a:rPr lang="en-US" dirty="0">
                <a:latin typeface="Times New Roman" panose="02020603050405020304" pitchFamily="18" charset="0"/>
                <a:cs typeface="Times New Roman" panose="02020603050405020304" pitchFamily="18" charset="0"/>
              </a:rPr>
              <a:t>. S                      (712222104007)</a:t>
            </a:r>
          </a:p>
          <a:p>
            <a:r>
              <a:rPr lang="en-US" dirty="0">
                <a:latin typeface="Times New Roman" panose="02020603050405020304" pitchFamily="18" charset="0"/>
                <a:cs typeface="Times New Roman" panose="02020603050405020304" pitchFamily="18" charset="0"/>
              </a:rPr>
              <a:t>Nanmugil. K                  (712222104021)</a:t>
            </a:r>
          </a:p>
          <a:p>
            <a:r>
              <a:rPr lang="en-US" dirty="0" err="1">
                <a:latin typeface="Times New Roman" panose="02020603050405020304" pitchFamily="18" charset="0"/>
                <a:cs typeface="Times New Roman" panose="02020603050405020304" pitchFamily="18" charset="0"/>
              </a:rPr>
              <a:t>Sesuriya</a:t>
            </a:r>
            <a:r>
              <a:rPr lang="en-US" dirty="0">
                <a:latin typeface="Times New Roman" panose="02020603050405020304" pitchFamily="18" charset="0"/>
                <a:cs typeface="Times New Roman" panose="02020603050405020304" pitchFamily="18" charset="0"/>
              </a:rPr>
              <a:t>. S                     (712222104029)</a:t>
            </a:r>
          </a:p>
          <a:p>
            <a:r>
              <a:rPr lang="en-US" dirty="0">
                <a:latin typeface="Times New Roman" panose="02020603050405020304" pitchFamily="18" charset="0"/>
                <a:cs typeface="Times New Roman" panose="02020603050405020304" pitchFamily="18" charset="0"/>
              </a:rPr>
              <a:t>Swetha. M                      (712222104030)</a:t>
            </a:r>
            <a:endParaRPr lang="en-IN" dirty="0"/>
          </a:p>
          <a:p>
            <a:endParaRPr lang="en-IN" dirty="0"/>
          </a:p>
        </p:txBody>
      </p:sp>
      <p:pic>
        <p:nvPicPr>
          <p:cNvPr id="14" name="Picture 6" descr="Park College of Engineering and ...">
            <a:extLst>
              <a:ext uri="{FF2B5EF4-FFF2-40B4-BE49-F238E27FC236}">
                <a16:creationId xmlns:a16="http://schemas.microsoft.com/office/drawing/2014/main" id="{E813548E-A4F4-B374-3AFE-6BBAEBE44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48" y="94788"/>
            <a:ext cx="1192976" cy="129266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9347C66-38E6-92C6-D42E-63488D80E778}"/>
              </a:ext>
            </a:extLst>
          </p:cNvPr>
          <p:cNvSpPr txBox="1"/>
          <p:nvPr/>
        </p:nvSpPr>
        <p:spPr>
          <a:xfrm>
            <a:off x="2310713" y="94788"/>
            <a:ext cx="7488195" cy="129266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PARK COLLEGE OF ENGINEERING AND TECHNOLOGY</a:t>
            </a:r>
          </a:p>
          <a:p>
            <a:pPr algn="ctr"/>
            <a:r>
              <a:rPr lang="en-US" sz="2000" b="1" dirty="0">
                <a:latin typeface="Times New Roman" panose="02020603050405020304" pitchFamily="18" charset="0"/>
                <a:cs typeface="Times New Roman" panose="02020603050405020304" pitchFamily="18" charset="0"/>
              </a:rPr>
              <a:t>(AUTONOMOUS) </a:t>
            </a:r>
          </a:p>
          <a:p>
            <a:pPr algn="ctr"/>
            <a:r>
              <a:rPr lang="en-US" sz="2000" b="1" dirty="0" err="1">
                <a:latin typeface="Times New Roman" panose="02020603050405020304" pitchFamily="18" charset="0"/>
                <a:cs typeface="Times New Roman" panose="02020603050405020304" pitchFamily="18" charset="0"/>
              </a:rPr>
              <a:t>Kaniyur</a:t>
            </a:r>
            <a:r>
              <a:rPr lang="en-US" sz="2000" b="1" dirty="0">
                <a:latin typeface="Times New Roman" panose="02020603050405020304" pitchFamily="18" charset="0"/>
                <a:cs typeface="Times New Roman" panose="02020603050405020304" pitchFamily="18" charset="0"/>
              </a:rPr>
              <a:t> , Coimbatore-641659          </a:t>
            </a:r>
            <a:endParaRPr lang="en-IN" sz="2000" b="1" dirty="0">
              <a:latin typeface="Times New Roman" panose="02020603050405020304" pitchFamily="18" charset="0"/>
              <a:cs typeface="Times New Roman" panose="02020603050405020304" pitchFamily="18" charset="0"/>
            </a:endParaRPr>
          </a:p>
          <a:p>
            <a:endParaRPr lang="en-IN" dirty="0"/>
          </a:p>
        </p:txBody>
      </p:sp>
      <p:pic>
        <p:nvPicPr>
          <p:cNvPr id="18" name="Picture 16" descr="Anna University - Wikipedia">
            <a:extLst>
              <a:ext uri="{FF2B5EF4-FFF2-40B4-BE49-F238E27FC236}">
                <a16:creationId xmlns:a16="http://schemas.microsoft.com/office/drawing/2014/main" id="{1F4A7B5D-8ADA-B011-DE48-A74BC42A4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968" y="31633"/>
            <a:ext cx="1380341" cy="1355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754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458B-D943-C9EF-C85E-15D51D211E03}"/>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8BA414AF-F4BF-D384-832C-2D6314011A7C}"/>
              </a:ext>
            </a:extLst>
          </p:cNvPr>
          <p:cNvSpPr>
            <a:spLocks noGrp="1"/>
          </p:cNvSpPr>
          <p:nvPr>
            <p:ph idx="1"/>
          </p:nvPr>
        </p:nvSpPr>
        <p:spPr>
          <a:xfrm>
            <a:off x="838200" y="1825625"/>
            <a:ext cx="10171670" cy="4351338"/>
          </a:xfrm>
        </p:spPr>
        <p:txBody>
          <a:bodyPr>
            <a:normAutofit/>
          </a:bodyPr>
          <a:lstStyle/>
          <a:p>
            <a:pPr marL="0" indent="0">
              <a:buNone/>
            </a:pPr>
            <a:r>
              <a:rPr lang="en-US" sz="2200" dirty="0"/>
              <a:t>Over the last 10 years, there has been an explosion of healthcare-related data produced by the </a:t>
            </a:r>
            <a:r>
              <a:rPr lang="en-US" sz="2200" dirty="0" err="1"/>
              <a:t>digitisation</a:t>
            </a:r>
            <a:r>
              <a:rPr lang="en-US" sz="2200" dirty="0"/>
              <a:t> of the healthcare system through electronic medical records (EMR) &amp; health information management systems (HIMS), medical imaging and laboratory systems as well as various wearable sensors &amp; other devices that record &amp; manage patient information. In this context, these large amounts of disparate, rapidly growing datasets have created the need for new methods for extracting value from these Big Data sets to better manage patient health, operational efficiency and inform clinical decision-making. There has been significant research on using Big Data technologies, especially NoSQL databases and distributed computing frameworks, in overcoming the challenges faced by healthcare analytics. The purpose of this literature survey is to provide a concise overview of key research contributions to date on the use of Big Data Analytics in the healthcare domain, highlighting how the characteristics of Healthcare Big Data, its Applications, Challenges, Architectural designs &amp; Forward-looking statements have been researched.</a:t>
            </a:r>
            <a:endParaRPr lang="en-IN" sz="2200" dirty="0"/>
          </a:p>
        </p:txBody>
      </p:sp>
    </p:spTree>
    <p:extLst>
      <p:ext uri="{BB962C8B-B14F-4D97-AF65-F5344CB8AC3E}">
        <p14:creationId xmlns:p14="http://schemas.microsoft.com/office/powerpoint/2010/main" val="162409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3D3E1-8A35-0CAE-390B-76BFB5A010D6}"/>
              </a:ext>
            </a:extLst>
          </p:cNvPr>
          <p:cNvSpPr>
            <a:spLocks noGrp="1"/>
          </p:cNvSpPr>
          <p:nvPr>
            <p:ph type="title"/>
          </p:nvPr>
        </p:nvSpPr>
        <p:spPr/>
        <p:txBody>
          <a:bodyPr/>
          <a:lstStyle/>
          <a:p>
            <a:r>
              <a:rPr lang="en-US" b="1" dirty="0"/>
              <a:t>Big Data Characteristics in Healthcare</a:t>
            </a:r>
            <a:endParaRPr lang="en-IN" b="1" dirty="0"/>
          </a:p>
        </p:txBody>
      </p:sp>
      <p:sp>
        <p:nvSpPr>
          <p:cNvPr id="3" name="Content Placeholder 2">
            <a:extLst>
              <a:ext uri="{FF2B5EF4-FFF2-40B4-BE49-F238E27FC236}">
                <a16:creationId xmlns:a16="http://schemas.microsoft.com/office/drawing/2014/main" id="{81686138-103C-8317-33D8-35EB1A8961B5}"/>
              </a:ext>
            </a:extLst>
          </p:cNvPr>
          <p:cNvSpPr>
            <a:spLocks noGrp="1"/>
          </p:cNvSpPr>
          <p:nvPr>
            <p:ph idx="1"/>
          </p:nvPr>
        </p:nvSpPr>
        <p:spPr>
          <a:xfrm>
            <a:off x="762000" y="1590847"/>
            <a:ext cx="10515600" cy="4389824"/>
          </a:xfrm>
        </p:spPr>
        <p:txBody>
          <a:bodyPr>
            <a:noAutofit/>
          </a:bodyPr>
          <a:lstStyle/>
          <a:p>
            <a:pPr marL="0" indent="0">
              <a:buNone/>
            </a:pPr>
            <a:r>
              <a:rPr lang="en-US" sz="1800" dirty="0"/>
              <a:t>Healthcare data has four major characteristics - commonly referred to as the four V’s - that are consistent with the characteristics of Big Data: volume, variety, velocity and value. The volume of data associated with healthcare is rapidly increasing as a result of the continuous production of new patient records, high-resolution medical images, genomic data and long-term patient history captured by Electronic Medical Records (EMRs). It has been reported that the total volume of data associated with healthcare is now at the petabyte level and continues to grow </a:t>
            </a:r>
            <a:r>
              <a:rPr lang="en-US" sz="1800" dirty="0" err="1"/>
              <a:t>exponentially.Another</a:t>
            </a:r>
            <a:r>
              <a:rPr lang="en-US" sz="1800" dirty="0"/>
              <a:t> characteristic of healthcare data is variety, where data is sourced from many different types of sources. </a:t>
            </a:r>
          </a:p>
          <a:p>
            <a:pPr marL="0" indent="0">
              <a:buNone/>
            </a:pPr>
            <a:r>
              <a:rPr lang="en-US" sz="1800" dirty="0"/>
              <a:t>Examples of these data types include structured data such as laboratory test results and bills; semi-structured data such as sensor readings; and unstructured data such as clinical notes, diagnostic images and videos. Integrating these various data types into a single analytical framework is a significant area of </a:t>
            </a:r>
            <a:r>
              <a:rPr lang="en-US" sz="1800" dirty="0" err="1"/>
              <a:t>research.Velocity</a:t>
            </a:r>
            <a:r>
              <a:rPr lang="en-US" sz="1800" dirty="0"/>
              <a:t> is the third characteristic associated with Big Data in healthcare, and refers to the speed with which data is created and processed within healthcare.</a:t>
            </a:r>
          </a:p>
          <a:p>
            <a:pPr marL="0" indent="0">
              <a:buNone/>
            </a:pPr>
            <a:r>
              <a:rPr lang="en-US" sz="1800" dirty="0"/>
              <a:t> The evolving use of real-time monitoring devices and wearable sensors has led to an increase in the requirement for healthcare systems to manage large volumes of data in real-time and beyond. Consequently, traditional batch-based systems used in healthcare are unable to meet the needs for near-real-time data analysis, and play a significant role in developing and using Big Data platforms that can handle such high-velocity data </a:t>
            </a:r>
            <a:r>
              <a:rPr lang="en-US" sz="1800" dirty="0" err="1"/>
              <a:t>streams.Finally</a:t>
            </a:r>
            <a:r>
              <a:rPr lang="en-US" sz="1800" dirty="0"/>
              <a:t>, the fourth characteristic of healthcare Big Data is value, which refers to actionable data and insights that can be obtained from patient data captured through the EMR</a:t>
            </a:r>
            <a:endParaRPr lang="en-IN" sz="1800" dirty="0"/>
          </a:p>
        </p:txBody>
      </p:sp>
    </p:spTree>
    <p:extLst>
      <p:ext uri="{BB962C8B-B14F-4D97-AF65-F5344CB8AC3E}">
        <p14:creationId xmlns:p14="http://schemas.microsoft.com/office/powerpoint/2010/main" val="143269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38DC-3D11-776E-619A-6C7DF162240C}"/>
              </a:ext>
            </a:extLst>
          </p:cNvPr>
          <p:cNvSpPr>
            <a:spLocks noGrp="1"/>
          </p:cNvSpPr>
          <p:nvPr>
            <p:ph type="title"/>
          </p:nvPr>
        </p:nvSpPr>
        <p:spPr/>
        <p:txBody>
          <a:bodyPr/>
          <a:lstStyle/>
          <a:p>
            <a:r>
              <a:rPr lang="en-US" b="1" dirty="0"/>
              <a:t>Usage of Big Data Analytics in Healthcare</a:t>
            </a:r>
            <a:endParaRPr lang="en-IN" b="1" dirty="0"/>
          </a:p>
        </p:txBody>
      </p:sp>
      <p:sp>
        <p:nvSpPr>
          <p:cNvPr id="3" name="Content Placeholder 2">
            <a:extLst>
              <a:ext uri="{FF2B5EF4-FFF2-40B4-BE49-F238E27FC236}">
                <a16:creationId xmlns:a16="http://schemas.microsoft.com/office/drawing/2014/main" id="{8F1E71D4-D7EB-CBDF-D02C-F79BBDB3B0F8}"/>
              </a:ext>
            </a:extLst>
          </p:cNvPr>
          <p:cNvSpPr>
            <a:spLocks noGrp="1"/>
          </p:cNvSpPr>
          <p:nvPr>
            <p:ph idx="1"/>
          </p:nvPr>
        </p:nvSpPr>
        <p:spPr/>
        <p:txBody>
          <a:bodyPr>
            <a:noAutofit/>
          </a:bodyPr>
          <a:lstStyle/>
          <a:p>
            <a:r>
              <a:rPr lang="en-US" sz="1600" dirty="0"/>
              <a:t>The health literature contains many examples of the different ways that BDA can be applied in the field of health care. Among these applications, most prominently, is the use of BDA for Clinical Decision Support. In this application of BDA, Clinical decision support combines analyses of multiple analytic techniques that provide support to physicians to help make decisions about a patient’s diagnosis, treatment plan, and/or predicting future health needs. Using Machine Learning Models in conjunction with BDA Applied To Large Patient Data Sets and will allow for an accuracy increase when predicting disease progression, re-hospitalizations, or a patient’s present or future risk </a:t>
            </a:r>
            <a:r>
              <a:rPr lang="en-US" sz="1600" dirty="0" err="1"/>
              <a:t>profile.Another</a:t>
            </a:r>
            <a:r>
              <a:rPr lang="en-US" sz="1600" dirty="0"/>
              <a:t> Key Application Area for BDA is Personalized/Precision Medicine. </a:t>
            </a:r>
          </a:p>
          <a:p>
            <a:r>
              <a:rPr lang="en-US" sz="1600" dirty="0"/>
              <a:t>Using Personal Patient Data and BDA allows for the creation of more effective and fewer adverse side effects of personalized treatment plans that are custom-tailored to the specific needs of individual patients using genetic information, Clinical Information, &amp; Lifestyle </a:t>
            </a:r>
            <a:r>
              <a:rPr lang="en-US" sz="1600" dirty="0" err="1"/>
              <a:t>Data.Predictive</a:t>
            </a:r>
            <a:r>
              <a:rPr lang="en-US" sz="1600" dirty="0"/>
              <a:t> Analytics are also a significant application of BDA. Predictive Analytics are used to assess the likelihood of a patient developing a disease and to determine the appropriate actions or treatment options to mitigate or reduce the patient’s risk of developing a </a:t>
            </a:r>
            <a:r>
              <a:rPr lang="en-US" sz="1600" dirty="0" err="1"/>
              <a:t>disease.Another</a:t>
            </a:r>
            <a:r>
              <a:rPr lang="en-US" sz="1600" dirty="0"/>
              <a:t> Key Application for BDA Is in the Area of Management of Healthcare Operations and Administrative Processes. </a:t>
            </a:r>
          </a:p>
          <a:p>
            <a:r>
              <a:rPr lang="en-US" sz="1600" dirty="0"/>
              <a:t>BDA Applications can be used to optimize the allocation of Hospital Resources, Patient Flow, Reduce Waiting Times, and Manage Healthcare Costs Through Effective Use of BDA </a:t>
            </a:r>
            <a:r>
              <a:rPr lang="en-US" sz="1600" dirty="0" err="1"/>
              <a:t>Applications.Last</a:t>
            </a:r>
            <a:r>
              <a:rPr lang="en-US" sz="1600" dirty="0"/>
              <a:t>, but not least, another recent area of research has been in how BDA is used in Public Health and Population Health Management. As large amounts of healthcare-related data continue to be collected throughout the world, this data can be aggregated and utilized to monitor and respond to outbreaks of disease, assess the outcomes of public health interventions, and support appropriate policy and legislative actions by governments through the evaluation of large-scale Epidemiological Studies Which Were Not Previously Possible.</a:t>
            </a:r>
            <a:endParaRPr lang="en-IN" sz="1600" dirty="0"/>
          </a:p>
        </p:txBody>
      </p:sp>
    </p:spTree>
    <p:extLst>
      <p:ext uri="{BB962C8B-B14F-4D97-AF65-F5344CB8AC3E}">
        <p14:creationId xmlns:p14="http://schemas.microsoft.com/office/powerpoint/2010/main" val="2731065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2244-5AE4-626C-969D-515792094288}"/>
              </a:ext>
            </a:extLst>
          </p:cNvPr>
          <p:cNvSpPr>
            <a:spLocks noGrp="1"/>
          </p:cNvSpPr>
          <p:nvPr>
            <p:ph type="title"/>
          </p:nvPr>
        </p:nvSpPr>
        <p:spPr>
          <a:xfrm>
            <a:off x="961768" y="340411"/>
            <a:ext cx="10515600" cy="1325563"/>
          </a:xfrm>
        </p:spPr>
        <p:txBody>
          <a:bodyPr/>
          <a:lstStyle/>
          <a:p>
            <a:r>
              <a:rPr lang="en-US" b="1" dirty="0"/>
              <a:t>The Technologies and Architectures for Big Data in Healthcare</a:t>
            </a:r>
            <a:endParaRPr lang="en-IN" b="1" dirty="0"/>
          </a:p>
        </p:txBody>
      </p:sp>
      <p:sp>
        <p:nvSpPr>
          <p:cNvPr id="3" name="Content Placeholder 2">
            <a:extLst>
              <a:ext uri="{FF2B5EF4-FFF2-40B4-BE49-F238E27FC236}">
                <a16:creationId xmlns:a16="http://schemas.microsoft.com/office/drawing/2014/main" id="{14E3935A-A2EB-868C-571E-567609C338E3}"/>
              </a:ext>
            </a:extLst>
          </p:cNvPr>
          <p:cNvSpPr>
            <a:spLocks noGrp="1"/>
          </p:cNvSpPr>
          <p:nvPr>
            <p:ph idx="1"/>
          </p:nvPr>
        </p:nvSpPr>
        <p:spPr/>
        <p:txBody>
          <a:bodyPr>
            <a:normAutofit fontScale="25000" lnSpcReduction="20000"/>
          </a:bodyPr>
          <a:lstStyle/>
          <a:p>
            <a:r>
              <a:rPr lang="en-US" sz="7200" dirty="0"/>
              <a:t>Much of the current body of work is focused on the specific types of technology that need to be developed to support BDA in Healthcare. In many instances, the technologies which are conventionally used to Amass data from traditional database management systems (RDBMS) are no longer considered appropriate for the size and diversity of big data in Healthcare. Therefore, a number of NoSQL databases have been adopted into use including; MongoDB, Cassandra, HBase, Redis, etc. These databases were designed specifically to handle the scalability, flexibility and distributed nature of Big Data, unlike </a:t>
            </a:r>
            <a:r>
              <a:rPr lang="en-US" sz="7200" dirty="0" err="1"/>
              <a:t>RDBMS.Distributed</a:t>
            </a:r>
            <a:r>
              <a:rPr lang="en-US" sz="7200" dirty="0"/>
              <a:t> computing architectures, including Apache Hadoop and Apache Spark, are identified and reviewed extensively the literature on Big Data Analytics.</a:t>
            </a:r>
          </a:p>
          <a:p>
            <a:r>
              <a:rPr lang="en-US" sz="7200" dirty="0"/>
              <a:t> The scale and volume of big data have a direct relationship with how much information can be processed using Hadoop through the HDFS and MapReduce, as well as with the performance limitations of Hadoop when running MapReduce jobs. The scalability limitations are addressed with Spark's ability for performing In-Memory and Real-Time processing. As Hadoop and Spark are on the Major Computing Platforms, they are frequently used together with Machine Learning Libraries and Cloud Services to construct "end-to-end" solutions for Analytics of Big Data in </a:t>
            </a:r>
            <a:r>
              <a:rPr lang="en-US" sz="7200" dirty="0" err="1"/>
              <a:t>Healthcare.A</a:t>
            </a:r>
            <a:r>
              <a:rPr lang="en-US" sz="7200" dirty="0"/>
              <a:t> number of recent studies identify "Integrated Big Data Architectures" that have been and or can be developed, targeted for use in Healthcare. </a:t>
            </a:r>
          </a:p>
          <a:p>
            <a:r>
              <a:rPr lang="en-US" sz="7200" dirty="0"/>
              <a:t>Most Integrated Architectures have a similar structure, and encompass the Data Ingestion Layer, Data Distributed Storage Layer, Analytics Engine Layer and Analytics Visualization Layer. As architectures continue to evolve, new Unique Architecture models have been proposed that have addressed the drawbacks of existing models, and have provided a mechanism for integrating Batch and Real-time processing of Analytics Data while maintaining the Scalability and Fault Tolerant Characteristics required of an Integrated Big Data Architecture</a:t>
            </a:r>
            <a:r>
              <a:rPr lang="en-US" dirty="0"/>
              <a:t>.</a:t>
            </a:r>
            <a:endParaRPr lang="en-IN" dirty="0"/>
          </a:p>
        </p:txBody>
      </p:sp>
    </p:spTree>
    <p:extLst>
      <p:ext uri="{BB962C8B-B14F-4D97-AF65-F5344CB8AC3E}">
        <p14:creationId xmlns:p14="http://schemas.microsoft.com/office/powerpoint/2010/main" val="1446304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1827-4225-2E2D-48A3-C8620B7DE09D}"/>
              </a:ext>
            </a:extLst>
          </p:cNvPr>
          <p:cNvSpPr>
            <a:spLocks noGrp="1"/>
          </p:cNvSpPr>
          <p:nvPr>
            <p:ph type="title"/>
          </p:nvPr>
        </p:nvSpPr>
        <p:spPr/>
        <p:txBody>
          <a:bodyPr/>
          <a:lstStyle/>
          <a:p>
            <a:r>
              <a:rPr lang="en-US" b="1" dirty="0"/>
              <a:t>Hindrances in Big Data Analytics in the Area of Healthcare</a:t>
            </a:r>
            <a:endParaRPr lang="en-IN" b="1" dirty="0"/>
          </a:p>
        </p:txBody>
      </p:sp>
      <p:sp>
        <p:nvSpPr>
          <p:cNvPr id="3" name="Content Placeholder 2">
            <a:extLst>
              <a:ext uri="{FF2B5EF4-FFF2-40B4-BE49-F238E27FC236}">
                <a16:creationId xmlns:a16="http://schemas.microsoft.com/office/drawing/2014/main" id="{CD092CE8-ADA4-3FBC-D83F-CCDFF05D3608}"/>
              </a:ext>
            </a:extLst>
          </p:cNvPr>
          <p:cNvSpPr>
            <a:spLocks noGrp="1"/>
          </p:cNvSpPr>
          <p:nvPr>
            <p:ph idx="1"/>
          </p:nvPr>
        </p:nvSpPr>
        <p:spPr/>
        <p:txBody>
          <a:bodyPr>
            <a:normAutofit fontScale="62500" lnSpcReduction="20000"/>
          </a:bodyPr>
          <a:lstStyle/>
          <a:p>
            <a:r>
              <a:rPr lang="en-US" dirty="0"/>
              <a:t>In spite of the opportunities presented by the application of Big Data Analytics (BDA) in the Healthcare Sector, there are still significant impediments to BDA's effective adoption. One of the largest barriers to success in BDA projects is the challenge of Data Management. The successful integration of heterogeneous Data Sources into a collective system is a complex task requiring the application of Pre-processing, Standardization and Interoperability mechanisms to the Data Sources. Additionally, the presence of Data Quality issues such as Missing Data, Inconsistent Data, and/or Noisy Data can create further complication for the Analytics </a:t>
            </a:r>
            <a:r>
              <a:rPr lang="en-US" dirty="0" err="1"/>
              <a:t>Process.Another</a:t>
            </a:r>
            <a:r>
              <a:rPr lang="en-US" dirty="0"/>
              <a:t> major area of concern identified in the literature is related to the security and privacy of a patient's sensitive medical Data.</a:t>
            </a:r>
          </a:p>
          <a:p>
            <a:r>
              <a:rPr lang="en-US" dirty="0"/>
              <a:t> Security mechanisms, Access Control mechanisms, and Compliance with Regulatory Standards are necessary components to protect a patient's privacy, while still allowing for the implementation of large-scale </a:t>
            </a:r>
            <a:r>
              <a:rPr lang="en-US" dirty="0" err="1"/>
              <a:t>Analytics.The</a:t>
            </a:r>
            <a:r>
              <a:rPr lang="en-US" dirty="0"/>
              <a:t> cost of establishing and maintaining a Big Data Infrastructure and the technical complexity associated with creating, installing, and running a Scalable Analytics System are also major impediments to BDA projects in the Healthcare Sector. </a:t>
            </a:r>
          </a:p>
          <a:p>
            <a:r>
              <a:rPr lang="en-US" dirty="0"/>
              <a:t>In addition, the lack of prevalence in the development of Standardized Architectures, as well as the absence of Comprehensive Implementation Roadmaps, has increased the rate of Failure of BDA projects in the Healthcare </a:t>
            </a:r>
            <a:r>
              <a:rPr lang="en-US" dirty="0" err="1"/>
              <a:t>Sector.Lastly</a:t>
            </a:r>
            <a:r>
              <a:rPr lang="en-US" dirty="0"/>
              <a:t>, Operational and Human Factors are also important in the Successful Execution of BDA projects. The need for effective Communication and Collaboration between Healthcare Professionals and Data Scientists has historically been challenged by the differences between the two groups with regard to Domain Knowledge. It is imperative to close this gap to ensure Analytics solutions will meet Clinical Requirements and yield tangible results.</a:t>
            </a:r>
            <a:endParaRPr lang="en-IN" dirty="0"/>
          </a:p>
        </p:txBody>
      </p:sp>
    </p:spTree>
    <p:extLst>
      <p:ext uri="{BB962C8B-B14F-4D97-AF65-F5344CB8AC3E}">
        <p14:creationId xmlns:p14="http://schemas.microsoft.com/office/powerpoint/2010/main" val="4600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D8B0-7870-7385-FBC4-80ACD1575278}"/>
              </a:ext>
            </a:extLst>
          </p:cNvPr>
          <p:cNvSpPr>
            <a:spLocks noGrp="1"/>
          </p:cNvSpPr>
          <p:nvPr>
            <p:ph type="title"/>
          </p:nvPr>
        </p:nvSpPr>
        <p:spPr>
          <a:xfrm>
            <a:off x="838200" y="253914"/>
            <a:ext cx="10515600" cy="1325563"/>
          </a:xfrm>
        </p:spPr>
        <p:txBody>
          <a:bodyPr/>
          <a:lstStyle/>
          <a:p>
            <a:r>
              <a:rPr lang="en-US" b="1" dirty="0"/>
              <a:t>The Benefits and Impact of Big Data Analytics on Healthcare</a:t>
            </a:r>
            <a:endParaRPr lang="en-IN" b="1" dirty="0"/>
          </a:p>
        </p:txBody>
      </p:sp>
      <p:sp>
        <p:nvSpPr>
          <p:cNvPr id="3" name="Content Placeholder 2">
            <a:extLst>
              <a:ext uri="{FF2B5EF4-FFF2-40B4-BE49-F238E27FC236}">
                <a16:creationId xmlns:a16="http://schemas.microsoft.com/office/drawing/2014/main" id="{A7089131-0885-4857-10DA-06593DFE9218}"/>
              </a:ext>
            </a:extLst>
          </p:cNvPr>
          <p:cNvSpPr>
            <a:spLocks noGrp="1"/>
          </p:cNvSpPr>
          <p:nvPr>
            <p:ph idx="1"/>
          </p:nvPr>
        </p:nvSpPr>
        <p:spPr/>
        <p:txBody>
          <a:bodyPr>
            <a:noAutofit/>
          </a:bodyPr>
          <a:lstStyle/>
          <a:p>
            <a:r>
              <a:rPr lang="en-US" sz="2000" dirty="0"/>
              <a:t>Multiple sources of literature discuss the beneficial outcomes achieved through the use of BDA in the healthcare industry. One of the main benefits most frequently reported is improved patient care quality, attributed to enhanced diagnostics, timely interventions &amp; treatment options/becoming </a:t>
            </a:r>
            <a:r>
              <a:rPr lang="en-US" sz="2000" dirty="0" err="1"/>
              <a:t>personalised</a:t>
            </a:r>
            <a:r>
              <a:rPr lang="en-US" sz="2000" dirty="0"/>
              <a:t> for individual patients. </a:t>
            </a:r>
          </a:p>
          <a:p>
            <a:r>
              <a:rPr lang="en-US" sz="2000" dirty="0"/>
              <a:t>Another key benefit of BDA is the provision of evidence based medicine (EBM) and enhanced ability of clinicians to make informed decisions based on these data </a:t>
            </a:r>
            <a:r>
              <a:rPr lang="en-US" sz="2000" dirty="0" err="1"/>
              <a:t>analytics.Operationally</a:t>
            </a:r>
            <a:r>
              <a:rPr lang="en-US" sz="2000" dirty="0"/>
              <a:t>, BDA can drive operational improvements through cost reduction, increased efficiencies and optimal resource usage.</a:t>
            </a:r>
          </a:p>
          <a:p>
            <a:r>
              <a:rPr lang="en-US" sz="2000" dirty="0"/>
              <a:t> Hospitals and health systems using BDA generally report an overall benefit of better management of their hospital operations, decreased incidence of waste and </a:t>
            </a:r>
            <a:r>
              <a:rPr lang="en-US" sz="2000" dirty="0" err="1"/>
              <a:t>fraud.On</a:t>
            </a:r>
            <a:r>
              <a:rPr lang="en-US" sz="2000" dirty="0"/>
              <a:t> a broader scale, BDA also drives innovation in healthcare research and public health initiatives. With BDA, health researchers across the globe can conduct large scale analysis of patient and population data in order to make new discoveries, accelerate clinical research and develop evidence-based public health policies. Together, these factors show that big data analytics will radically transform the delivery of healthcare services</a:t>
            </a:r>
            <a:endParaRPr lang="en-IN" sz="2000" dirty="0"/>
          </a:p>
        </p:txBody>
      </p:sp>
    </p:spTree>
    <p:extLst>
      <p:ext uri="{BB962C8B-B14F-4D97-AF65-F5344CB8AC3E}">
        <p14:creationId xmlns:p14="http://schemas.microsoft.com/office/powerpoint/2010/main" val="140161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751B-67ED-6208-908F-5F7C915BD8C9}"/>
              </a:ext>
            </a:extLst>
          </p:cNvPr>
          <p:cNvSpPr>
            <a:spLocks noGrp="1"/>
          </p:cNvSpPr>
          <p:nvPr>
            <p:ph type="title"/>
          </p:nvPr>
        </p:nvSpPr>
        <p:spPr/>
        <p:txBody>
          <a:bodyPr/>
          <a:lstStyle/>
          <a:p>
            <a:r>
              <a:rPr lang="en-US" b="1" dirty="0"/>
              <a:t>Future Directions for Research &amp; Development</a:t>
            </a:r>
            <a:endParaRPr lang="en-IN" b="1" dirty="0"/>
          </a:p>
        </p:txBody>
      </p:sp>
      <p:sp>
        <p:nvSpPr>
          <p:cNvPr id="3" name="Content Placeholder 2">
            <a:extLst>
              <a:ext uri="{FF2B5EF4-FFF2-40B4-BE49-F238E27FC236}">
                <a16:creationId xmlns:a16="http://schemas.microsoft.com/office/drawing/2014/main" id="{E9015C10-09B8-F442-9CC7-EF234B15850D}"/>
              </a:ext>
            </a:extLst>
          </p:cNvPr>
          <p:cNvSpPr>
            <a:spLocks noGrp="1"/>
          </p:cNvSpPr>
          <p:nvPr>
            <p:ph idx="1"/>
          </p:nvPr>
        </p:nvSpPr>
        <p:spPr/>
        <p:txBody>
          <a:bodyPr>
            <a:normAutofit/>
          </a:bodyPr>
          <a:lstStyle/>
          <a:p>
            <a:r>
              <a:rPr lang="en-US" sz="2600" dirty="0"/>
              <a:t>Although there is already an extensive body of literature discussing BDA in healthcare, there are still many research opportunities that remain open. There is a lack of </a:t>
            </a:r>
            <a:r>
              <a:rPr lang="en-US" sz="2600" dirty="0" err="1"/>
              <a:t>standardised</a:t>
            </a:r>
            <a:r>
              <a:rPr lang="en-US" sz="2600" dirty="0"/>
              <a:t> frameworks and reference architectures that will guide the implementation of BDA in different healthcare settings. Therefore, the direction for future research includes the development of frameworks and reference architectures, as well as developmental work regarding improving data interoperability and developing privacy preserving/scalable methods of </a:t>
            </a:r>
            <a:r>
              <a:rPr lang="en-US" sz="2600" dirty="0" err="1"/>
              <a:t>analysing</a:t>
            </a:r>
            <a:r>
              <a:rPr lang="en-US" sz="2600" dirty="0"/>
              <a:t> data. New and emerging technologies, such as Artificial Intelligence, Deep Learning and Edge Analytics, will introduce even more opportunities and capabilities for healthcare providers to leverage BDA in the future</a:t>
            </a:r>
            <a:endParaRPr lang="en-IN" sz="2600" dirty="0"/>
          </a:p>
        </p:txBody>
      </p:sp>
    </p:spTree>
    <p:extLst>
      <p:ext uri="{BB962C8B-B14F-4D97-AF65-F5344CB8AC3E}">
        <p14:creationId xmlns:p14="http://schemas.microsoft.com/office/powerpoint/2010/main" val="426430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21ACC-EBE3-1B02-BFC5-C84E6D7F05A9}"/>
              </a:ext>
            </a:extLst>
          </p:cNvPr>
          <p:cNvSpPr>
            <a:spLocks noGrp="1"/>
          </p:cNvSpPr>
          <p:nvPr>
            <p:ph type="title"/>
          </p:nvPr>
        </p:nvSpPr>
        <p:spPr/>
        <p:txBody>
          <a:bodyPr/>
          <a:lstStyle/>
          <a:p>
            <a:r>
              <a:rPr lang="en-IN" dirty="0"/>
              <a:t> Conclusion</a:t>
            </a:r>
          </a:p>
        </p:txBody>
      </p:sp>
      <p:sp>
        <p:nvSpPr>
          <p:cNvPr id="3" name="Content Placeholder 2">
            <a:extLst>
              <a:ext uri="{FF2B5EF4-FFF2-40B4-BE49-F238E27FC236}">
                <a16:creationId xmlns:a16="http://schemas.microsoft.com/office/drawing/2014/main" id="{4D1C2B21-1C52-468F-3AD6-2013A1726AC7}"/>
              </a:ext>
            </a:extLst>
          </p:cNvPr>
          <p:cNvSpPr>
            <a:spLocks noGrp="1"/>
          </p:cNvSpPr>
          <p:nvPr>
            <p:ph idx="1"/>
          </p:nvPr>
        </p:nvSpPr>
        <p:spPr/>
        <p:txBody>
          <a:bodyPr>
            <a:noAutofit/>
          </a:bodyPr>
          <a:lstStyle/>
          <a:p>
            <a:r>
              <a:rPr lang="en-US" sz="2400" dirty="0"/>
              <a:t>The review of literature shows that big data analysis has become one of the most significant facilitators for today’s healthcare providers. The complexity of having to deal with the increasing amounts, types, and speeds of data in modern day healthcare has created many challenges for providers who are trying to transform and optimize their business processes. Nonetheless, these challenges present immense opportunities for healthcare organizations to improve on their current patient outcomes and to increase the overall value of their services through greater operational efficiencies and innovations within the industry. The ongoing body of research being conducted within the field and technology-related advancements will continue to have an effect on the future of data-enabled healthcare; therefore, the body of literature reviewed in this paper will serve as a great starting place for using big data to create the opportunity for additional academic projects or future research within big data analytics and the healthcare industry.</a:t>
            </a:r>
            <a:endParaRPr lang="en-IN" sz="2400" dirty="0"/>
          </a:p>
        </p:txBody>
      </p:sp>
    </p:spTree>
    <p:extLst>
      <p:ext uri="{BB962C8B-B14F-4D97-AF65-F5344CB8AC3E}">
        <p14:creationId xmlns:p14="http://schemas.microsoft.com/office/powerpoint/2010/main" val="2091595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2064</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Californian FB</vt:lpstr>
      <vt:lpstr>Times New Roman</vt:lpstr>
      <vt:lpstr>Office Theme</vt:lpstr>
      <vt:lpstr>PowerPoint Presentation</vt:lpstr>
      <vt:lpstr>Introduction</vt:lpstr>
      <vt:lpstr>Big Data Characteristics in Healthcare</vt:lpstr>
      <vt:lpstr>Usage of Big Data Analytics in Healthcare</vt:lpstr>
      <vt:lpstr>The Technologies and Architectures for Big Data in Healthcare</vt:lpstr>
      <vt:lpstr>Hindrances in Big Data Analytics in the Area of Healthcare</vt:lpstr>
      <vt:lpstr>The Benefits and Impact of Big Data Analytics on Healthcare</vt:lpstr>
      <vt:lpstr>Future Directions for Research &amp; Development</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Nanmugil K</dc:creator>
  <cp:lastModifiedBy>Nanmugil K</cp:lastModifiedBy>
  <cp:revision>1</cp:revision>
  <dcterms:created xsi:type="dcterms:W3CDTF">2026-01-21T11:04:25Z</dcterms:created>
  <dcterms:modified xsi:type="dcterms:W3CDTF">2026-01-21T11:04:25Z</dcterms:modified>
</cp:coreProperties>
</file>